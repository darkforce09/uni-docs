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12192000" cy="6858000"/>
  <p:notesSz cx="6858000" cy="9144000"/>
  <p:defaultTextStyle>
    <a:defPPr>
      <a:defRPr lang="sv-SE"/>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6151849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5471671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1299169471"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309532563"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6317344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18853787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7863442" name="Slide Image Placeholder 1"/>
          <p:cNvSpPr>
            <a:spLocks noChangeAspect="1" noGrp="1" noRot="1"/>
          </p:cNvSpPr>
          <p:nvPr>
            <p:ph type="sldImg"/>
          </p:nvPr>
        </p:nvSpPr>
        <p:spPr bwMode="auto">
          <a:xfrm>
            <a:off x="685800" y="1143000"/>
            <a:ext cx="5486400" cy="3086100"/>
          </a:xfrm>
        </p:spPr>
      </p:sp>
      <p:sp>
        <p:nvSpPr>
          <p:cNvPr id="1027879544"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Jag ska presentera fallet med Mikko, 66 år. Han har diagnosen frontotemporal lobär degeneration och bor på ett demensboende. Hans fru Sari känner stor skuld och upplever att Mikko är arg på henne. På boendet finns problem med utåtagerande beteende vid omvårdnad och bristande rutiner kring BPSD och Nollvisionen. Min analys utgår från omvårdnadsprocessen och personcentrerad omvårdnad.</a:t>
            </a:r>
            <a:endParaRPr lang="en-US">
              <a:latin typeface="Arial"/>
              <a:cs typeface="Arial"/>
            </a:endParaRPr>
          </a:p>
        </p:txBody>
      </p:sp>
      <p:sp>
        <p:nvSpPr>
          <p:cNvPr id="141563604"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I vår datainsamling är det avgörande att använda rätt instrument. Eftersom Mikko har dålig andedräkt och vägrar munvård misstänker vi smärta. Då han har FTLD och inte kan självskatta sin smärta via en VAS-skala, använder vi </a:t>
            </a:r>
            <a:r>
              <a:rPr sz="1200" b="1" i="0" u="none">
                <a:solidFill>
                  <a:srgbClr val="000000"/>
                </a:solidFill>
                <a:latin typeface="Times New Roman"/>
                <a:ea typeface="Times New Roman"/>
                <a:cs typeface="Times New Roman"/>
              </a:rPr>
              <a:t>Abbey Pain Scale</a:t>
            </a:r>
            <a:r>
              <a:rPr sz="1200" b="0" i="0" u="none">
                <a:solidFill>
                  <a:srgbClr val="000000"/>
                </a:solidFill>
                <a:latin typeface="Times New Roman"/>
                <a:ea typeface="Times New Roman"/>
                <a:cs typeface="Times New Roman"/>
              </a:rPr>
              <a:t> för smärtbedömning via observation. För att systematiskt bedöma hans munhälsa och identifiera risker initierar vi en registrering i </a:t>
            </a:r>
            <a:r>
              <a:rPr sz="1200" b="1" i="0" u="none">
                <a:solidFill>
                  <a:srgbClr val="000000"/>
                </a:solidFill>
                <a:latin typeface="Times New Roman"/>
                <a:ea typeface="Times New Roman"/>
                <a:cs typeface="Times New Roman"/>
              </a:rPr>
              <a:t>Senior Alert</a:t>
            </a:r>
            <a:r>
              <a:rPr sz="1200" b="0" i="0" u="none">
                <a:solidFill>
                  <a:srgbClr val="000000"/>
                </a:solidFill>
                <a:latin typeface="Times New Roman"/>
                <a:ea typeface="Times New Roman"/>
                <a:cs typeface="Times New Roman"/>
              </a:rPr>
              <a:t>, specifikt med mätverktyget </a:t>
            </a:r>
            <a:r>
              <a:rPr sz="1200" b="1" i="0" u="none">
                <a:solidFill>
                  <a:srgbClr val="000000"/>
                </a:solidFill>
                <a:latin typeface="Times New Roman"/>
                <a:ea typeface="Times New Roman"/>
                <a:cs typeface="Times New Roman"/>
              </a:rPr>
              <a:t>ROAG</a:t>
            </a:r>
            <a:r>
              <a:rPr sz="1200" b="0" i="0" u="none">
                <a:solidFill>
                  <a:srgbClr val="000000"/>
                </a:solidFill>
                <a:latin typeface="Times New Roman"/>
                <a:ea typeface="Times New Roman"/>
                <a:cs typeface="Times New Roman"/>
              </a:rPr>
              <a:t>. Utöver det fysiska samlar vi in data kring hans BPSD-symtom, hans finska bakgrund och Saris upplevelse av skuld och maktlöshet.</a:t>
            </a:r>
            <a:br>
              <a:rPr b="1"/>
            </a:br>
            <a:br>
              <a:rPr b="1"/>
            </a:br>
            <a:r>
              <a:rPr b="1"/>
              <a:t>Referance:</a:t>
            </a:r>
            <a:endParaRPr b="1"/>
          </a:p>
        </p:txBody>
      </p:sp>
      <p:sp>
        <p:nvSpPr>
          <p:cNvPr id="4" name="Slide Number Placeholder 3"/>
          <p:cNvSpPr>
            <a:spLocks noGrp="1"/>
          </p:cNvSpPr>
          <p:nvPr>
            <p:ph type="sldNum" sz="quarter" idx="10"/>
          </p:nvPr>
        </p:nvSpPr>
        <p:spPr bwMode="auto"/>
        <p:txBody>
          <a:bodyPr/>
          <a:lstStyle/>
          <a:p>
            <a:pPr>
              <a:defRPr/>
            </a:pPr>
            <a:fld id="{52120851-969E-A7A8-A634-6D63618EE2FA}"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Utifrån vår datainsamling sätter vi in riktade åtgärder. Om </a:t>
            </a:r>
            <a:r>
              <a:rPr sz="1200" b="1" i="0" u="none">
                <a:solidFill>
                  <a:srgbClr val="000000"/>
                </a:solidFill>
                <a:latin typeface="Times New Roman"/>
                <a:ea typeface="Times New Roman"/>
                <a:cs typeface="Times New Roman"/>
              </a:rPr>
              <a:t>Abbey Pain Scale</a:t>
            </a:r>
            <a:r>
              <a:rPr sz="1200" b="0" i="0" u="none">
                <a:solidFill>
                  <a:srgbClr val="000000"/>
                </a:solidFill>
                <a:latin typeface="Times New Roman"/>
                <a:ea typeface="Times New Roman"/>
                <a:cs typeface="Times New Roman"/>
              </a:rPr>
              <a:t> eller </a:t>
            </a:r>
            <a:r>
              <a:rPr sz="1200" b="1" i="0" u="none">
                <a:solidFill>
                  <a:srgbClr val="000000"/>
                </a:solidFill>
                <a:latin typeface="Times New Roman"/>
                <a:ea typeface="Times New Roman"/>
                <a:cs typeface="Times New Roman"/>
              </a:rPr>
              <a:t>ROAG</a:t>
            </a:r>
            <a:r>
              <a:rPr sz="1200" b="0" i="0" u="none">
                <a:solidFill>
                  <a:srgbClr val="000000"/>
                </a:solidFill>
                <a:latin typeface="Times New Roman"/>
                <a:ea typeface="Times New Roman"/>
                <a:cs typeface="Times New Roman"/>
              </a:rPr>
              <a:t> indikerar smärta i munnen, sätter vi in smärtlindring innan vi försöker med munvård eller dusch. Som evidensbaserad åtgärd för hans utåtagerande startar vi en </a:t>
            </a:r>
            <a:r>
              <a:rPr sz="1200" b="1" i="0" u="none">
                <a:solidFill>
                  <a:srgbClr val="000000"/>
                </a:solidFill>
                <a:latin typeface="Times New Roman"/>
                <a:ea typeface="Times New Roman"/>
                <a:cs typeface="Times New Roman"/>
              </a:rPr>
              <a:t>BPSD-registrering</a:t>
            </a:r>
            <a:r>
              <a:rPr sz="1200" b="0" i="0" u="none">
                <a:solidFill>
                  <a:srgbClr val="000000"/>
                </a:solidFill>
                <a:latin typeface="Times New Roman"/>
                <a:ea typeface="Times New Roman"/>
                <a:cs typeface="Times New Roman"/>
              </a:rPr>
              <a:t> för att kartlägga vad som triggar honom, istället för att ge lugnande medicin.</a:t>
            </a:r>
            <a:endParaRPr/>
          </a:p>
          <a:p>
            <a:pPr>
              <a:defRPr/>
            </a:pPr>
            <a:r>
              <a:rPr sz="1200" b="0" i="0" u="none">
                <a:solidFill>
                  <a:srgbClr val="000000"/>
                </a:solidFill>
                <a:latin typeface="Times New Roman"/>
                <a:ea typeface="Times New Roman"/>
                <a:cs typeface="Times New Roman"/>
              </a:rPr>
              <a:t>För att säkerställa en personcentrerad vård enligt Nollvisionen tvingar vi honom inte i duschen. Vi anpassar miljön, kanske använder finsk musik, eller tvättar honom i sängen om duschen skapar för mycket ångest. Vi involverar närstående genom att ge Sari utbildning om att frontallobsdemens (FTLD) påverkar impulskontroll och empati, vilket hjälper till att lyfta av hennes skuldkänslor. Slutligen måste jag som sjuksköterska leda teamet och prioritera teamträffar så att all personal känner sig trygga.</a:t>
            </a:r>
            <a:endParaRPr/>
          </a:p>
        </p:txBody>
      </p:sp>
      <p:sp>
        <p:nvSpPr>
          <p:cNvPr id="4" name="Slide Number Placeholder 3"/>
          <p:cNvSpPr>
            <a:spLocks noGrp="1"/>
          </p:cNvSpPr>
          <p:nvPr>
            <p:ph type="sldNum" sz="quarter" idx="10"/>
          </p:nvPr>
        </p:nvSpPr>
        <p:spPr bwMode="auto"/>
        <p:txBody>
          <a:bodyPr/>
          <a:lstStyle/>
          <a:p>
            <a:pPr>
              <a:defRPr/>
            </a:pPr>
            <a:fld id="{9C2DBB65-A886-5D3D-5FC0-DA7D8435C0DE}"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Utvärderingen sker systematiskt utifrån de instrument vi startade med. Vi gör kontinuerliga nya skattningar med Abbey Pain Scale och ROAG för att se om smärtan lindrats och munhälsan förbättrats. Vi analyserar BPSD-registreringen för att se om våra personcentrerade åtgärder vid hygien har minskat Mikkos utåtagerande beteende. Jag följer också upp med Sari för att höra om hon känner mindre skuld och orkar komma på besök igen. Slutligen utvärderar vi i teamet om personalen känner sig mindre pressade och tryggare i arbetssättet.</a:t>
            </a:r>
            <a:endParaRPr/>
          </a:p>
        </p:txBody>
      </p:sp>
      <p:sp>
        <p:nvSpPr>
          <p:cNvPr id="4" name="Slide Number Placeholder 3"/>
          <p:cNvSpPr>
            <a:spLocks noGrp="1"/>
          </p:cNvSpPr>
          <p:nvPr>
            <p:ph type="sldNum" sz="quarter" idx="10"/>
          </p:nvPr>
        </p:nvSpPr>
        <p:spPr bwMode="auto"/>
        <p:txBody>
          <a:bodyPr/>
          <a:lstStyle/>
          <a:p>
            <a:pPr>
              <a:defRPr/>
            </a:pPr>
            <a:fld id="{06B8A0A4-D2F4-6D0D-F15A-982F8B6CA307}"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8D076E-4FA0-E2FD-7BC5-CC65DD2E3A3A}"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4CB7179-73EB-533E-3FCC-201ED554670D}"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47043639"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245065155"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66973469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82129684" name="Footer Placeholder 4"/>
          <p:cNvSpPr>
            <a:spLocks noGrp="1"/>
          </p:cNvSpPr>
          <p:nvPr>
            <p:ph type="ftr" sz="quarter" idx="11"/>
          </p:nvPr>
        </p:nvSpPr>
        <p:spPr bwMode="auto"/>
        <p:txBody>
          <a:bodyPr/>
          <a:lstStyle/>
          <a:p>
            <a:pPr>
              <a:defRPr/>
            </a:pPr>
            <a:endParaRPr lang="en-US"/>
          </a:p>
        </p:txBody>
      </p:sp>
      <p:sp>
        <p:nvSpPr>
          <p:cNvPr id="1529580187"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176876620" name="Title 1"/>
          <p:cNvSpPr>
            <a:spLocks noGrp="1"/>
          </p:cNvSpPr>
          <p:nvPr>
            <p:ph type="title"/>
          </p:nvPr>
        </p:nvSpPr>
        <p:spPr bwMode="auto"/>
        <p:txBody>
          <a:bodyPr/>
          <a:lstStyle/>
          <a:p>
            <a:pPr>
              <a:defRPr/>
            </a:pPr>
            <a:r>
              <a:rPr lang="en-US"/>
              <a:t>Click to edit Master title style</a:t>
            </a:r>
            <a:endParaRPr lang="en-US"/>
          </a:p>
        </p:txBody>
      </p:sp>
      <p:sp>
        <p:nvSpPr>
          <p:cNvPr id="59535390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44201748"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66044435" name="Footer Placeholder 4"/>
          <p:cNvSpPr>
            <a:spLocks noGrp="1"/>
          </p:cNvSpPr>
          <p:nvPr>
            <p:ph type="ftr" sz="quarter" idx="11"/>
          </p:nvPr>
        </p:nvSpPr>
        <p:spPr bwMode="auto"/>
        <p:txBody>
          <a:bodyPr/>
          <a:lstStyle/>
          <a:p>
            <a:pPr>
              <a:defRPr/>
            </a:pPr>
            <a:endParaRPr lang="en-US"/>
          </a:p>
        </p:txBody>
      </p:sp>
      <p:sp>
        <p:nvSpPr>
          <p:cNvPr id="56012615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62786163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016388292"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25908138"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67240741" name="Footer Placeholder 4"/>
          <p:cNvSpPr>
            <a:spLocks noGrp="1"/>
          </p:cNvSpPr>
          <p:nvPr>
            <p:ph type="ftr" sz="quarter" idx="11"/>
          </p:nvPr>
        </p:nvSpPr>
        <p:spPr bwMode="auto"/>
        <p:txBody>
          <a:bodyPr/>
          <a:lstStyle/>
          <a:p>
            <a:pPr>
              <a:defRPr/>
            </a:pPr>
            <a:endParaRPr lang="en-US"/>
          </a:p>
        </p:txBody>
      </p:sp>
      <p:sp>
        <p:nvSpPr>
          <p:cNvPr id="1754282495"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134892226" name="Title 1"/>
          <p:cNvSpPr>
            <a:spLocks noGrp="1"/>
          </p:cNvSpPr>
          <p:nvPr>
            <p:ph type="title"/>
          </p:nvPr>
        </p:nvSpPr>
        <p:spPr bwMode="auto"/>
        <p:txBody>
          <a:bodyPr/>
          <a:lstStyle/>
          <a:p>
            <a:pPr>
              <a:defRPr/>
            </a:pPr>
            <a:r>
              <a:rPr lang="en-US"/>
              <a:t>Click to edit Master title style</a:t>
            </a:r>
            <a:endParaRPr lang="en-US"/>
          </a:p>
        </p:txBody>
      </p:sp>
      <p:sp>
        <p:nvSpPr>
          <p:cNvPr id="1229336321"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18795477"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82899221"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696782550" name="Footer Placeholder 5"/>
          <p:cNvSpPr>
            <a:spLocks noGrp="1"/>
          </p:cNvSpPr>
          <p:nvPr>
            <p:ph type="ftr" sz="quarter" idx="11"/>
          </p:nvPr>
        </p:nvSpPr>
        <p:spPr bwMode="auto"/>
        <p:txBody>
          <a:bodyPr/>
          <a:lstStyle/>
          <a:p>
            <a:pPr>
              <a:defRPr/>
            </a:pPr>
            <a:endParaRPr lang="en-US"/>
          </a:p>
        </p:txBody>
      </p:sp>
      <p:sp>
        <p:nvSpPr>
          <p:cNvPr id="466448912"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648368629"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1124696496"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86857128"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6182359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999252398"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07359698"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49972943" name="Footer Placeholder 7"/>
          <p:cNvSpPr>
            <a:spLocks noGrp="1"/>
          </p:cNvSpPr>
          <p:nvPr>
            <p:ph type="ftr" sz="quarter" idx="11"/>
          </p:nvPr>
        </p:nvSpPr>
        <p:spPr bwMode="auto"/>
        <p:txBody>
          <a:bodyPr/>
          <a:lstStyle/>
          <a:p>
            <a:pPr>
              <a:defRPr/>
            </a:pPr>
            <a:endParaRPr lang="en-US"/>
          </a:p>
        </p:txBody>
      </p:sp>
      <p:sp>
        <p:nvSpPr>
          <p:cNvPr id="1319510246"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9607755" name="Title 1"/>
          <p:cNvSpPr>
            <a:spLocks noGrp="1"/>
          </p:cNvSpPr>
          <p:nvPr>
            <p:ph type="title"/>
          </p:nvPr>
        </p:nvSpPr>
        <p:spPr bwMode="auto"/>
        <p:txBody>
          <a:bodyPr/>
          <a:lstStyle/>
          <a:p>
            <a:pPr>
              <a:defRPr/>
            </a:pPr>
            <a:r>
              <a:rPr lang="en-US"/>
              <a:t>Click to edit Master title style</a:t>
            </a:r>
            <a:endParaRPr lang="en-US"/>
          </a:p>
        </p:txBody>
      </p:sp>
      <p:sp>
        <p:nvSpPr>
          <p:cNvPr id="346850099"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17592905" name="Footer Placeholder 3"/>
          <p:cNvSpPr>
            <a:spLocks noGrp="1"/>
          </p:cNvSpPr>
          <p:nvPr>
            <p:ph type="ftr" sz="quarter" idx="11"/>
          </p:nvPr>
        </p:nvSpPr>
        <p:spPr bwMode="auto"/>
        <p:txBody>
          <a:bodyPr/>
          <a:lstStyle/>
          <a:p>
            <a:pPr>
              <a:defRPr/>
            </a:pPr>
            <a:endParaRPr lang="en-US"/>
          </a:p>
        </p:txBody>
      </p:sp>
      <p:sp>
        <p:nvSpPr>
          <p:cNvPr id="598193876"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741278803"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73856274" name="Footer Placeholder 2"/>
          <p:cNvSpPr>
            <a:spLocks noGrp="1"/>
          </p:cNvSpPr>
          <p:nvPr>
            <p:ph type="ftr" sz="quarter" idx="11"/>
          </p:nvPr>
        </p:nvSpPr>
        <p:spPr bwMode="auto"/>
        <p:txBody>
          <a:bodyPr/>
          <a:lstStyle/>
          <a:p>
            <a:pPr>
              <a:defRPr/>
            </a:pPr>
            <a:endParaRPr lang="en-US"/>
          </a:p>
        </p:txBody>
      </p:sp>
      <p:sp>
        <p:nvSpPr>
          <p:cNvPr id="1491878982"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045246817"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815959837"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5150357"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59214648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8919859" name="Footer Placeholder 5"/>
          <p:cNvSpPr>
            <a:spLocks noGrp="1"/>
          </p:cNvSpPr>
          <p:nvPr>
            <p:ph type="ftr" sz="quarter" idx="11"/>
          </p:nvPr>
        </p:nvSpPr>
        <p:spPr bwMode="auto"/>
        <p:txBody>
          <a:bodyPr/>
          <a:lstStyle/>
          <a:p>
            <a:pPr>
              <a:defRPr/>
            </a:pPr>
            <a:endParaRPr lang="en-US"/>
          </a:p>
        </p:txBody>
      </p:sp>
      <p:sp>
        <p:nvSpPr>
          <p:cNvPr id="2094287483"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058532884"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101392309"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85704337"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46096199"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73345591" name="Footer Placeholder 5"/>
          <p:cNvSpPr>
            <a:spLocks noGrp="1"/>
          </p:cNvSpPr>
          <p:nvPr>
            <p:ph type="ftr" sz="quarter" idx="11"/>
          </p:nvPr>
        </p:nvSpPr>
        <p:spPr bwMode="auto"/>
        <p:txBody>
          <a:bodyPr/>
          <a:lstStyle/>
          <a:p>
            <a:pPr>
              <a:defRPr/>
            </a:pPr>
            <a:endParaRPr lang="en-US"/>
          </a:p>
        </p:txBody>
      </p:sp>
      <p:sp>
        <p:nvSpPr>
          <p:cNvPr id="1495355705"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656323264" name="Title 1"/>
          <p:cNvSpPr>
            <a:spLocks noGrp="1"/>
          </p:cNvSpPr>
          <p:nvPr>
            <p:ph type="title"/>
          </p:nvPr>
        </p:nvSpPr>
        <p:spPr bwMode="auto"/>
        <p:txBody>
          <a:bodyPr/>
          <a:lstStyle/>
          <a:p>
            <a:pPr>
              <a:defRPr/>
            </a:pPr>
            <a:r>
              <a:rPr lang="en-US"/>
              <a:t>Click to edit Master title style</a:t>
            </a:r>
            <a:endParaRPr lang="en-US"/>
          </a:p>
        </p:txBody>
      </p:sp>
      <p:sp>
        <p:nvSpPr>
          <p:cNvPr id="35935390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74246436"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66995262" name="Footer Placeholder 4"/>
          <p:cNvSpPr>
            <a:spLocks noGrp="1"/>
          </p:cNvSpPr>
          <p:nvPr>
            <p:ph type="ftr" sz="quarter" idx="11"/>
          </p:nvPr>
        </p:nvSpPr>
        <p:spPr bwMode="auto"/>
        <p:txBody>
          <a:bodyPr/>
          <a:lstStyle/>
          <a:p>
            <a:pPr>
              <a:defRPr/>
            </a:pPr>
            <a:endParaRPr lang="en-US"/>
          </a:p>
        </p:txBody>
      </p:sp>
      <p:sp>
        <p:nvSpPr>
          <p:cNvPr id="113071736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561076558"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781652981"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94228119"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32283811" name="Footer Placeholder 4"/>
          <p:cNvSpPr>
            <a:spLocks noGrp="1"/>
          </p:cNvSpPr>
          <p:nvPr>
            <p:ph type="ftr" sz="quarter" idx="11"/>
          </p:nvPr>
        </p:nvSpPr>
        <p:spPr bwMode="auto"/>
        <p:txBody>
          <a:bodyPr/>
          <a:lstStyle/>
          <a:p>
            <a:pPr>
              <a:defRPr/>
            </a:pPr>
            <a:endParaRPr lang="en-US"/>
          </a:p>
        </p:txBody>
      </p:sp>
      <p:sp>
        <p:nvSpPr>
          <p:cNvPr id="150720266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064166014"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218980472"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40125970"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199154278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756822001"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9204554" name="Title 1"/>
          <p:cNvSpPr>
            <a:spLocks noGrp="1"/>
          </p:cNvSpPr>
          <p:nvPr>
            <p:ph type="ctrTitle"/>
          </p:nvPr>
        </p:nvSpPr>
        <p:spPr bwMode="auto">
          <a:xfrm flipH="0" flipV="0">
            <a:off x="461962" y="783432"/>
            <a:ext cx="11268074" cy="1268411"/>
          </a:xfrm>
        </p:spPr>
        <p:txBody>
          <a:bodyPr/>
          <a:lstStyle/>
          <a:p>
            <a:pPr>
              <a:defRPr/>
            </a:pPr>
            <a:r>
              <a:rPr lang="sv-SE" sz="4800">
                <a:solidFill>
                  <a:srgbClr val="0070C0"/>
                </a:solidFill>
              </a:rPr>
              <a:t>Muntligt examinationsseminarium</a:t>
            </a:r>
            <a:endParaRPr>
              <a:solidFill>
                <a:srgbClr val="0070C0"/>
              </a:solidFill>
            </a:endParaRPr>
          </a:p>
        </p:txBody>
      </p:sp>
      <p:sp>
        <p:nvSpPr>
          <p:cNvPr id="735914112" name="Subtitle 2"/>
          <p:cNvSpPr>
            <a:spLocks noGrp="1"/>
          </p:cNvSpPr>
          <p:nvPr>
            <p:ph type="subTitle" idx="1"/>
          </p:nvPr>
        </p:nvSpPr>
        <p:spPr bwMode="auto">
          <a:xfrm flipH="0" flipV="0">
            <a:off x="1523999" y="2774156"/>
            <a:ext cx="9144000" cy="654842"/>
          </a:xfrm>
        </p:spPr>
        <p:txBody>
          <a:bodyPr/>
          <a:lstStyle/>
          <a:p>
            <a:pPr algn="l">
              <a:defRPr/>
            </a:pPr>
            <a:r>
              <a:rPr lang="sv-SE">
                <a:solidFill>
                  <a:srgbClr val="0070C0"/>
                </a:solidFill>
              </a:rPr>
              <a:t>Fall 2</a:t>
            </a:r>
            <a:endParaRPr>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4262774" name="Title 1"/>
          <p:cNvSpPr>
            <a:spLocks noGrp="1"/>
          </p:cNvSpPr>
          <p:nvPr>
            <p:ph type="title"/>
          </p:nvPr>
        </p:nvSpPr>
        <p:spPr bwMode="auto"/>
        <p:txBody>
          <a:bodyPr/>
          <a:lstStyle/>
          <a:p>
            <a:pPr>
              <a:defRPr/>
            </a:pPr>
            <a:r>
              <a:rPr/>
              <a:t>Datainsamling</a:t>
            </a:r>
            <a:endParaRPr/>
          </a:p>
        </p:txBody>
      </p:sp>
      <p:sp>
        <p:nvSpPr>
          <p:cNvPr id="162869547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defRPr/>
            </a:pPr>
            <a:r>
              <a:rPr lang="sv-SE" sz="2800" b="1" i="0" u="none" strike="noStrike" cap="none" spc="0">
                <a:solidFill>
                  <a:schemeClr val="tx1"/>
                </a:solidFill>
                <a:latin typeface="Arial"/>
                <a:ea typeface="Arial"/>
                <a:cs typeface="Arial"/>
              </a:rPr>
              <a:t>Smärtskattning</a:t>
            </a:r>
            <a:r>
              <a:rPr lang="sv-SE" sz="2800" b="0" i="0" u="none" strike="noStrike" cap="none" spc="0">
                <a:solidFill>
                  <a:schemeClr val="tx1"/>
                </a:solidFill>
                <a:latin typeface="Arial"/>
                <a:ea typeface="Arial"/>
                <a:cs typeface="Arial"/>
              </a:rPr>
              <a:t>: Abbey Pain Scale (ej VAS på grund av kognitiv svikt).</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Munhälsa &amp; Risker</a:t>
            </a:r>
            <a:r>
              <a:rPr lang="sv-SE" sz="2800" b="0" i="0" u="none" strike="noStrike" cap="none" spc="0">
                <a:solidFill>
                  <a:schemeClr val="tx1"/>
                </a:solidFill>
                <a:latin typeface="Arial"/>
                <a:ea typeface="Arial"/>
                <a:cs typeface="Arial"/>
              </a:rPr>
              <a:t>: Senior Alert (ROAG för munstatus).</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Beteende (BPSD)</a:t>
            </a:r>
            <a:r>
              <a:rPr lang="sv-SE" sz="2800" b="0" i="0" u="none" strike="noStrike" cap="none" spc="0">
                <a:solidFill>
                  <a:schemeClr val="tx1"/>
                </a:solidFill>
                <a:latin typeface="Arial"/>
                <a:ea typeface="Arial"/>
                <a:cs typeface="Arial"/>
              </a:rPr>
              <a:t>: Utåtagerande vid omvårdnad (dusch/munvård).</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Livsberättelse</a:t>
            </a:r>
            <a:r>
              <a:rPr lang="sv-SE" sz="2800" b="0" i="0" u="none" strike="noStrike" cap="none" spc="0">
                <a:solidFill>
                  <a:schemeClr val="tx1"/>
                </a:solidFill>
                <a:latin typeface="Arial"/>
                <a:ea typeface="Arial"/>
                <a:cs typeface="Arial"/>
              </a:rPr>
              <a:t>: Finsk bakgrund, tidigare företagare.</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Närstående</a:t>
            </a:r>
            <a:r>
              <a:rPr lang="sv-SE" sz="2800" b="0" i="0" u="none" strike="noStrike" cap="none" spc="0">
                <a:solidFill>
                  <a:schemeClr val="tx1"/>
                </a:solidFill>
                <a:latin typeface="Arial"/>
                <a:ea typeface="Arial"/>
                <a:cs typeface="Arial"/>
              </a:rPr>
              <a:t>: Sari upplever skuld och maktlöshet.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3462999" name="Title 1"/>
          <p:cNvSpPr>
            <a:spLocks noGrp="1"/>
          </p:cNvSpPr>
          <p:nvPr>
            <p:ph type="title"/>
          </p:nvPr>
        </p:nvSpPr>
        <p:spPr bwMode="auto"/>
        <p:txBody>
          <a:bodyPr/>
          <a:lstStyle/>
          <a:p>
            <a:pPr>
              <a:defRPr/>
            </a:pPr>
            <a:r>
              <a:rPr/>
              <a:t>Omvårdnadsåtgärder</a:t>
            </a:r>
            <a:endParaRPr/>
          </a:p>
        </p:txBody>
      </p:sp>
      <p:sp>
        <p:nvSpPr>
          <p:cNvPr id="1028190089"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75000" lnSpcReduction="5000"/>
          </a:bodyPr>
          <a:lstStyle/>
          <a:p>
            <a:pPr>
              <a:defRPr/>
            </a:pPr>
            <a:r>
              <a:rPr lang="sv-SE" sz="2800" b="1" i="0" u="none" strike="noStrike" cap="none" spc="0">
                <a:solidFill>
                  <a:schemeClr val="tx1"/>
                </a:solidFill>
                <a:latin typeface="Arial"/>
                <a:ea typeface="Arial"/>
                <a:cs typeface="Arial"/>
              </a:rPr>
              <a:t>Smärta &amp; Munhälsa</a:t>
            </a:r>
            <a:r>
              <a:rPr lang="sv-SE" sz="2800" b="0" i="0" u="none" strike="noStrike" cap="none" spc="0">
                <a:solidFill>
                  <a:schemeClr val="tx1"/>
                </a:solidFill>
                <a:latin typeface="Arial"/>
                <a:ea typeface="Arial"/>
                <a:cs typeface="Arial"/>
              </a:rPr>
              <a:t>: Åtgärder utifrån Abbey Pain Scale och ROAG (ex. smärtlindring före hygien).</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Evidensbaserad BPSD-vård</a:t>
            </a:r>
            <a:r>
              <a:rPr lang="sv-SE" sz="2800" b="0" i="0" u="none" strike="noStrike" cap="none" spc="0">
                <a:solidFill>
                  <a:schemeClr val="tx1"/>
                </a:solidFill>
                <a:latin typeface="Arial"/>
                <a:ea typeface="Arial"/>
                <a:cs typeface="Arial"/>
              </a:rPr>
              <a:t>: Starta strukturerad BPSD-registrering för att hitta triggers.</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Personcentrerad hygien</a:t>
            </a:r>
            <a:r>
              <a:rPr lang="sv-SE" sz="2800" b="0" i="0" u="none" strike="noStrike" cap="none" spc="0">
                <a:solidFill>
                  <a:schemeClr val="tx1"/>
                </a:solidFill>
                <a:latin typeface="Arial"/>
                <a:ea typeface="Arial"/>
                <a:cs typeface="Arial"/>
              </a:rPr>
              <a:t>: Nollvisionen vid dusch (finsk musik, anpassad tid, alternativ tvätt).</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Närstående (Sari)</a:t>
            </a:r>
            <a:r>
              <a:rPr lang="sv-SE" sz="2800" b="0" i="0" u="none" strike="noStrike" cap="none" spc="0">
                <a:solidFill>
                  <a:schemeClr val="tx1"/>
                </a:solidFill>
                <a:latin typeface="Arial"/>
                <a:ea typeface="Arial"/>
                <a:cs typeface="Arial"/>
              </a:rPr>
              <a:t>: Edukation om FTLD och stödsamtal för att minska skuld.</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Teamet</a:t>
            </a:r>
            <a:r>
              <a:rPr lang="sv-SE" sz="2800" b="0" i="0" u="none" strike="noStrike" cap="none" spc="0">
                <a:solidFill>
                  <a:schemeClr val="tx1"/>
                </a:solidFill>
                <a:latin typeface="Arial"/>
                <a:ea typeface="Arial"/>
                <a:cs typeface="Arial"/>
              </a:rPr>
              <a:t>: Återinföra teamträffar för samsyn och trygghet i Nollvisionen.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7696962" name="Title 1"/>
          <p:cNvSpPr>
            <a:spLocks noGrp="1"/>
          </p:cNvSpPr>
          <p:nvPr>
            <p:ph type="title"/>
          </p:nvPr>
        </p:nvSpPr>
        <p:spPr bwMode="auto"/>
        <p:txBody>
          <a:bodyPr/>
          <a:lstStyle/>
          <a:p>
            <a:pPr>
              <a:defRPr/>
            </a:pPr>
            <a:r>
              <a:rPr lang="sv-SE" sz="4400" b="0" i="0" u="none" strike="noStrike" cap="none" spc="0">
                <a:solidFill>
                  <a:schemeClr val="tx1"/>
                </a:solidFill>
                <a:latin typeface="Arial"/>
                <a:ea typeface="Arial"/>
                <a:cs typeface="Arial"/>
              </a:rPr>
              <a:t>Utvärdering</a:t>
            </a:r>
            <a:endParaRPr/>
          </a:p>
        </p:txBody>
      </p:sp>
      <p:sp>
        <p:nvSpPr>
          <p:cNvPr id="1035423167"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defRPr/>
            </a:pPr>
            <a:r>
              <a:rPr lang="sv-SE" sz="2800" b="1" i="0" u="none" strike="noStrike" cap="none" spc="0">
                <a:solidFill>
                  <a:schemeClr val="tx1"/>
                </a:solidFill>
                <a:latin typeface="Arial"/>
                <a:ea typeface="Arial"/>
                <a:cs typeface="Arial"/>
              </a:rPr>
              <a:t>Smärta &amp; Munstatus</a:t>
            </a:r>
            <a:r>
              <a:rPr lang="sv-SE" sz="2800" b="0" i="0" u="none" strike="noStrike" cap="none" spc="0">
                <a:solidFill>
                  <a:schemeClr val="tx1"/>
                </a:solidFill>
                <a:latin typeface="Arial"/>
                <a:ea typeface="Arial"/>
                <a:cs typeface="Arial"/>
              </a:rPr>
              <a:t>: Ny skattning med Abbey Pain Scale och ROAG.</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Beteendesymtom</a:t>
            </a:r>
            <a:r>
              <a:rPr lang="sv-SE" sz="2800" b="0" i="0" u="none" strike="noStrike" cap="none" spc="0">
                <a:solidFill>
                  <a:schemeClr val="tx1"/>
                </a:solidFill>
                <a:latin typeface="Arial"/>
                <a:ea typeface="Arial"/>
                <a:cs typeface="Arial"/>
              </a:rPr>
              <a:t>: Följa upp BPSD-registreringen (har utåtagerande minskat?).</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Närstående</a:t>
            </a:r>
            <a:r>
              <a:rPr lang="sv-SE" sz="2800" b="0" i="0" u="none" strike="noStrike" cap="none" spc="0">
                <a:solidFill>
                  <a:schemeClr val="tx1"/>
                </a:solidFill>
                <a:latin typeface="Arial"/>
                <a:ea typeface="Arial"/>
                <a:cs typeface="Arial"/>
              </a:rPr>
              <a:t>: Uppföljande samtal med Sari (mående och besöksfrekvens?).</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1" i="0" u="none" strike="noStrike" cap="none" spc="0">
                <a:solidFill>
                  <a:schemeClr val="tx1"/>
                </a:solidFill>
                <a:latin typeface="Arial"/>
                <a:ea typeface="Arial"/>
                <a:cs typeface="Arial"/>
              </a:rPr>
              <a:t>Teamet</a:t>
            </a:r>
            <a:r>
              <a:rPr lang="sv-SE" sz="2800" b="0" i="0" u="none" strike="noStrike" cap="none" spc="0">
                <a:solidFill>
                  <a:schemeClr val="tx1"/>
                </a:solidFill>
                <a:latin typeface="Arial"/>
                <a:ea typeface="Arial"/>
                <a:cs typeface="Arial"/>
              </a:rPr>
              <a:t>: Utvärdera samsyn och arbetsmiljö vid teamträffar.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9238872" name="Title 1"/>
          <p:cNvSpPr>
            <a:spLocks noGrp="1"/>
          </p:cNvSpPr>
          <p:nvPr>
            <p:ph type="title"/>
          </p:nvPr>
        </p:nvSpPr>
        <p:spPr bwMode="auto"/>
        <p:txBody>
          <a:bodyPr/>
          <a:lstStyle/>
          <a:p>
            <a:pPr>
              <a:defRPr/>
            </a:pPr>
            <a:r>
              <a:rPr lang="sv-SE" sz="4400" b="0" i="0" u="none" strike="noStrike" cap="none" spc="0">
                <a:solidFill>
                  <a:schemeClr val="tx1"/>
                </a:solidFill>
                <a:latin typeface="Arial"/>
                <a:ea typeface="Arial"/>
                <a:cs typeface="Arial"/>
              </a:rPr>
              <a:t>Diskussionsfrågor</a:t>
            </a:r>
            <a:endParaRPr/>
          </a:p>
        </p:txBody>
      </p:sp>
      <p:sp>
        <p:nvSpPr>
          <p:cNvPr id="335891846" name="Content Placeholder 2"/>
          <p:cNvSpPr>
            <a:spLocks noGrp="1"/>
          </p:cNvSpPr>
          <p:nvPr>
            <p:ph idx="1"/>
          </p:nvPr>
        </p:nvSpPr>
        <p:spPr bwMode="auto"/>
        <p:txBody>
          <a:bodyPr/>
          <a:lstStyle/>
          <a:p>
            <a:pPr>
              <a:defRPr/>
            </a:pPr>
            <a:r>
              <a:rPr lang="sv-SE" sz="2800" b="0" i="0" u="none" strike="noStrike" cap="none" spc="0">
                <a:solidFill>
                  <a:schemeClr val="tx1"/>
                </a:solidFill>
                <a:latin typeface="Arial"/>
                <a:ea typeface="Arial"/>
                <a:cs typeface="Arial"/>
              </a:rPr>
              <a:t>Hur kan vi i teamet upprätthålla Nollvisionen och undvika tvångs- och begränsningsåtgärder när basala hygienbehov, som munvård och dusch, blir lidande?</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0" i="0" u="none" strike="noStrike" cap="none" spc="0">
                <a:solidFill>
                  <a:schemeClr val="tx1"/>
                </a:solidFill>
                <a:latin typeface="Arial"/>
                <a:ea typeface="Arial"/>
                <a:cs typeface="Arial"/>
              </a:rPr>
              <a:t>Sari känner stor skuld och skam över situationen. Hur kan vi arbeta personcentrerat för att stödja henne och göra henne till en resurs i Mikkos vård igen?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3124456" name="Title 1"/>
          <p:cNvSpPr>
            <a:spLocks noGrp="1"/>
          </p:cNvSpPr>
          <p:nvPr>
            <p:ph type="title"/>
          </p:nvPr>
        </p:nvSpPr>
        <p:spPr bwMode="auto"/>
        <p:txBody>
          <a:bodyPr/>
          <a:lstStyle/>
          <a:p>
            <a:pPr>
              <a:defRPr/>
            </a:pPr>
            <a:r>
              <a:rPr lang="sv-SE" sz="4400" b="0" i="0" u="none" strike="noStrike" cap="none" spc="0">
                <a:solidFill>
                  <a:schemeClr val="tx1"/>
                </a:solidFill>
                <a:latin typeface="Arial"/>
                <a:ea typeface="Arial"/>
                <a:cs typeface="Arial"/>
              </a:rPr>
              <a:t>Referenser</a:t>
            </a:r>
            <a:endParaRPr/>
          </a:p>
        </p:txBody>
      </p:sp>
      <p:sp>
        <p:nvSpPr>
          <p:cNvPr id="1252973445" name="Content Placeholder 2"/>
          <p:cNvSpPr>
            <a:spLocks noGrp="1"/>
          </p:cNvSpPr>
          <p:nvPr>
            <p:ph idx="1"/>
          </p:nvPr>
        </p:nvSpPr>
        <p:spPr bwMode="auto"/>
        <p:txBody>
          <a:bodyPr/>
          <a:lstStyle/>
          <a:p>
            <a:pPr>
              <a:defRPr/>
            </a:pPr>
            <a:r>
              <a:rPr lang="sv-SE" sz="2800" b="0" i="0" u="none" strike="noStrike" cap="none" spc="0">
                <a:solidFill>
                  <a:schemeClr val="tx1"/>
                </a:solidFill>
                <a:latin typeface="Arial"/>
                <a:ea typeface="Arial"/>
                <a:cs typeface="Arial"/>
              </a:rPr>
              <a:t>Edberg, A.-K., &amp; Wijk, H. (Red.). (2019). Omvårdnadens grunder: Hälsa och ohälsa (3:e uppl.). Studentlitteratur.</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0" i="0" u="none" strike="noStrike" cap="none" spc="0">
                <a:solidFill>
                  <a:schemeClr val="tx1"/>
                </a:solidFill>
                <a:latin typeface="Arial"/>
                <a:ea typeface="Arial"/>
                <a:cs typeface="Arial"/>
              </a:rPr>
              <a:t>Socialstyrelsen. (2017). Nationella riktlinjer för vård och omsorg vid demenssjukdom: Stöd för styrning och ledning. Socialstyrelsen.</a:t>
            </a:r>
            <a:endParaRPr lang="sv-SE" sz="2800" b="0" i="0" u="none" strike="noStrike" cap="none" spc="0">
              <a:solidFill>
                <a:schemeClr val="tx1"/>
              </a:solidFill>
              <a:latin typeface="Arial"/>
              <a:cs typeface="Arial"/>
            </a:endParaRPr>
          </a:p>
          <a:p>
            <a:pPr>
              <a:defRPr/>
            </a:pPr>
            <a:endParaRPr lang="sv-SE" sz="2800" b="0" i="0" u="none" strike="noStrike" cap="none" spc="0">
              <a:solidFill>
                <a:schemeClr val="tx1"/>
              </a:solidFill>
              <a:latin typeface="Arial"/>
              <a:cs typeface="Arial"/>
            </a:endParaRPr>
          </a:p>
          <a:p>
            <a:pPr>
              <a:defRPr/>
            </a:pPr>
            <a:r>
              <a:rPr lang="sv-SE" sz="2800" b="0" i="0" u="none" strike="noStrike" cap="none" spc="0">
                <a:solidFill>
                  <a:schemeClr val="tx1"/>
                </a:solidFill>
                <a:latin typeface="Arial"/>
                <a:ea typeface="Arial"/>
                <a:cs typeface="Arial"/>
              </a:rPr>
              <a:t>Svensk sjuksköterskeförening. (2015). Personcentrerad vård. Svensk sjuksköterskeförening.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ONLYOFFICE/9.3.1.8</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cp:revision>
  <dcterms:modified xsi:type="dcterms:W3CDTF">2026-04-28T12:32:08Z</dcterms:modified>
</cp:coreProperties>
</file>